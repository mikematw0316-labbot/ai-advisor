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noFill/>
          <a:ln w="12700">
            <a:solidFill>
              <a:srgbClr val="12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AI WORKFLOW  · 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4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19656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● 匿名案例 ANONYMIZED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 AI 完成一份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競品分析工作流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800600"/>
            <a:ext cx="100584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自動化系統截圖 → AI 圖像比較分析 → 跨來源資料探勘 → 簡報自動製作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把原本耗時數週的競業分析，壓縮到數天完成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A7E"/>
                </a:solidFill>
                <a:latin typeface="JetBrains Mono"/>
                <a:ea typeface="JetBrains Mono"/>
                <a:cs typeface="JetBrains Mono"/>
              </a:rPr>
              <a:t>AI 顧問實作成果  ·  mikematw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9728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競品分析，為什麼這麼耗時？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149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一份到位的競品分析，得逐頁走訪對手的桌機版與行動版、把每個關鍵畫面截圖存檔，再一項一項比對介面設計、操作動線、功能廣度與行銷機制，最後彙整成一份能對外說明的簡報。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整套流程若靠人工，動輒耗上數週，而且容易因人力疲勞而漏看細節。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709160"/>
            <a:ext cx="3319272" cy="1051560"/>
          </a:xfrm>
          <a:prstGeom prst="roundRect">
            <a:avLst>
              <a:gd name="adj" fmla="val 12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892040"/>
            <a:ext cx="27706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6A6A"/>
                </a:solidFill>
                <a:latin typeface="Noto Sans TC"/>
                <a:ea typeface="Noto Sans TC"/>
                <a:cs typeface="Noto Sans TC"/>
              </a:rPr>
              <a:t>✕  </a:t>
            </a:r>
            <a:r>
              <a:rPr sz="14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逐頁手動截圖，費時且易漏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4709160"/>
            <a:ext cx="3319272" cy="1051560"/>
          </a:xfrm>
          <a:prstGeom prst="roundRect">
            <a:avLst>
              <a:gd name="adj" fmla="val 12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4892040"/>
            <a:ext cx="27706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6A6A"/>
                </a:solidFill>
                <a:latin typeface="Noto Sans TC"/>
                <a:ea typeface="Noto Sans TC"/>
                <a:cs typeface="Noto Sans TC"/>
              </a:rPr>
              <a:t>✕  </a:t>
            </a:r>
            <a:r>
              <a:rPr sz="14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肉眼比對，主觀又難複現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4709160"/>
            <a:ext cx="3319272" cy="1051560"/>
          </a:xfrm>
          <a:prstGeom prst="roundRect">
            <a:avLst>
              <a:gd name="adj" fmla="val 12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4892040"/>
            <a:ext cx="277063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06A6A"/>
                </a:solidFill>
                <a:latin typeface="Noto Sans TC"/>
                <a:ea typeface="Noto Sans TC"/>
                <a:cs typeface="Noto Sans TC"/>
              </a:rPr>
              <a:t>✕  </a:t>
            </a:r>
            <a:r>
              <a:rPr sz="14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人工排版彙整，反覆潤飾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126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→ 這次我把整條流程交給 AI 協作，分成四個環節接力完成。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THE AI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9728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四段式 AI 分析工作流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743200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743200"/>
            <a:ext cx="2487168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301752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886200"/>
            <a:ext cx="19842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系統截圖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89204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批次走訪桌機 / 行動版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逐一截圖歸檔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3886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E3FD"/>
                </a:solidFill>
                <a:latin typeface="JetBrains Mono"/>
                <a:ea typeface="JetBrains Mono"/>
                <a:cs typeface="JetBrains Mono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40" y="2743200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0" y="2743200"/>
            <a:ext cx="2487168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301752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886200"/>
            <a:ext cx="19842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圖像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比較分析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489204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視覺 AI 讀圖並排比對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UX 逐項優劣標註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886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E3FD"/>
                </a:solidFill>
                <a:latin typeface="JetBrains Mono"/>
                <a:ea typeface="JetBrains Mono"/>
                <a:cs typeface="JetBrains Mono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743200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743200"/>
            <a:ext cx="2487168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01752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886200"/>
            <a:ext cx="19842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資料探勘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數據整合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89204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串接第三方流量數據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AI 歸納趨勢差異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3886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E3FD"/>
                </a:solidFill>
                <a:latin typeface="JetBrains Mono"/>
                <a:ea typeface="JetBrains Mono"/>
                <a:cs typeface="JetBrains Mono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743200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743200"/>
            <a:ext cx="2487168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301752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3886200"/>
            <a:ext cx="19842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簡報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自動製作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4892040"/>
            <a:ext cx="2029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AI 排版彙整敘事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產出可對外成果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36576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>
                <a:solidFill>
                  <a:srgbClr val="111B1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STEP 01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7160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系統截圖自動化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8412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以自動化流程系統性走訪桌機版與行動版的每個關鍵畫面，逐一截圖、命名、歸檔。不再靠人工一頁頁手動抓圖，畫面覆蓋更完整，也不會遺漏隱藏在多層選單裡的功能。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12080"/>
            <a:ext cx="149504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30368"/>
            <a:ext cx="149504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PC + 行動雙版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3764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批次擷取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468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4468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自動歸檔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36576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>
                <a:solidFill>
                  <a:srgbClr val="111B1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STEP 02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7160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圖像比較分析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8412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讓具備視覺理解能力的 AI 直接讀圖，兩兩並排比對介面設計、資訊層級、操作動線與 UX 細節，客觀點出雙方優勢與待優化處。把原本「憑經驗肉眼看」的主觀判斷，變成有依據、可複現的結構化比較。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視覺理解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6544" y="5212080"/>
            <a:ext cx="1248156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4" y="5230368"/>
            <a:ext cx="12481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UX 逐項比對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7580" y="5212080"/>
            <a:ext cx="1001268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7580" y="5230368"/>
            <a:ext cx="10012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優劣點標註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36576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>
                <a:solidFill>
                  <a:srgbClr val="111B1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STEP 03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7160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資料探勘與數據整合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8412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串接第三方流量分析數據，挖掘雙方的訪客規模、來源渠道、搜尋表現與外部連結策略，再交由 AI 歸納出趨勢與差異。用數據為每個觀察背書，讓結論不只是「感覺」，而是「有憑有據」。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流量數據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6544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4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來源渠道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趨勢歸納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365760"/>
            <a:ext cx="4023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0" b="1">
                <a:solidFill>
                  <a:srgbClr val="111B1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STEP 04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7160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簡報自動製作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8412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把前三段的截圖、比較結論與數據，交由 AI 排版彙整成一份結構清晰、可直接對外簡報的成果文件。統一視覺、統一敘事邏輯，省去大量手動排版與文案潤飾的時間。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自動排版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6544" y="5212080"/>
            <a:ext cx="877824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544" y="5230368"/>
            <a:ext cx="877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敘事整合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5212080"/>
            <a:ext cx="1001268" cy="502920"/>
          </a:xfrm>
          <a:prstGeom prst="roundRect">
            <a:avLst>
              <a:gd name="adj" fmla="val 50000"/>
            </a:avLst>
          </a:prstGeom>
          <a:solidFill>
            <a:srgbClr val="0E1E22"/>
          </a:solidFill>
          <a:ln w="12700">
            <a:solidFill>
              <a:srgbClr val="1E3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5230368"/>
            <a:ext cx="10012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可直接對外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ANALYSIS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96012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這份分析涵蓋了哪些面向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跨桌機與行動端，逐項拆解對手的產品體驗與經營策略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606040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606040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7889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流量與來源渠道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22783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訪客規模、自然搜尋、渠道結構與反向連結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2606040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08576" y="2606040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7889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註冊與登入體驗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22783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入口動線、登入方式、新用戶轉化門檻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2606040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2606040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7889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會員中心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22783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版面資訊密度、切換架構與行動操作體感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14216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014216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419709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金流與帳務管道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63600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支付方式廣度、流程摩擦力與資訊引導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4014216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08576" y="4014216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19709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功能與產品廣度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63600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功能盤點、產品線定位與客群區隔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4014216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2" y="4014216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419709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行銷與優惠機制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4636008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活動矩陣、會員經營與推薦裂變機制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422392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" y="5422392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560527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在地化與語系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604418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多語系支援、在地化完整度與狀態持久化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08576" y="5422392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08576" y="5422392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560527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客服與互動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604418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AI 客服與專人服務組合、回應效率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1312" y="5422392"/>
            <a:ext cx="3383280" cy="1207008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11312" y="5422392"/>
            <a:ext cx="38100" cy="1207008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560527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優化建議產出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604418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彙整可執行的體驗優化清單與具體行動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PROJECT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9728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專案規模一覽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83464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48716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競品品牌同場對比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283464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337560"/>
            <a:ext cx="248716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PC + 行動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4434840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雙版本完整覆蓋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3464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248716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40+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34840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功能與體驗對比面向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834640"/>
            <a:ext cx="2487168" cy="2377440"/>
          </a:xfrm>
          <a:prstGeom prst="roundRect">
            <a:avLst>
              <a:gd name="adj" fmla="val 8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337560"/>
            <a:ext cx="248716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~80%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434840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分析時間縮短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THE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97280"/>
            <a:ext cx="50292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到底幫我省下多少？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傳統人工競品分析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514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A6B4B8"/>
                </a:solidFill>
                <a:latin typeface="JetBrains Mono"/>
                <a:ea typeface="JetBrains Mono"/>
                <a:cs typeface="JetBrains Mono"/>
              </a:rPr>
              <a:t>約 數週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26080"/>
            <a:ext cx="10149840" cy="384048"/>
          </a:xfrm>
          <a:prstGeom prst="roundRect">
            <a:avLst>
              <a:gd name="adj" fmla="val 50000"/>
            </a:avLst>
          </a:prstGeom>
          <a:solidFill>
            <a:srgbClr val="3F4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1ECFF"/>
                </a:solidFill>
                <a:latin typeface="Noto Sans TC"/>
                <a:ea typeface="Noto Sans TC"/>
                <a:cs typeface="Noto Sans TC"/>
              </a:rPr>
              <a:t>AI 協作工作流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11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約 數天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023360"/>
            <a:ext cx="10149840" cy="384048"/>
          </a:xfrm>
          <a:prstGeom prst="roundRect">
            <a:avLst>
              <a:gd name="adj" fmla="val 50000"/>
            </a:avLst>
          </a:prstGeom>
          <a:solidFill>
            <a:srgbClr val="22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402336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892040"/>
            <a:ext cx="3319272" cy="1234440"/>
          </a:xfrm>
          <a:prstGeom prst="roundRect">
            <a:avLst>
              <a:gd name="adj" fmla="val 10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~80%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分析時間縮短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4892040"/>
            <a:ext cx="3319272" cy="1234440"/>
          </a:xfrm>
          <a:prstGeom prst="roundRect">
            <a:avLst>
              <a:gd name="adj" fmla="val 10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5074920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2×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5715000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畫面覆蓋完整度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4892040"/>
            <a:ext cx="3319272" cy="1234440"/>
          </a:xfrm>
          <a:prstGeom prst="roundRect">
            <a:avLst>
              <a:gd name="adj" fmla="val 10000"/>
            </a:avLst>
          </a:prstGeom>
          <a:solidFill>
            <a:srgbClr val="10181B"/>
          </a:solidFill>
          <a:ln w="12700">
            <a:solidFill>
              <a:srgbClr val="1E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6" y="5074920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1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5715000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即可獨立完成全流程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355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A7E"/>
                </a:solidFill>
                <a:latin typeface="Noto Sans TC"/>
                <a:ea typeface="Noto Sans TC"/>
                <a:cs typeface="Noto Sans TC"/>
              </a:rPr>
              <a:t>＊ 數值為此工作流之效益示意，非特定客戶實際數據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1554480"/>
            <a:ext cx="10177272" cy="3749039"/>
          </a:xfrm>
          <a:prstGeom prst="roundRect">
            <a:avLst>
              <a:gd name="adj" fmla="val 6000"/>
            </a:avLst>
          </a:prstGeom>
          <a:solidFill>
            <a:srgbClr val="081418"/>
          </a:solidFill>
          <a:ln w="15875">
            <a:solidFill>
              <a:srgbClr val="16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103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300">
                <a:solidFill>
                  <a:srgbClr val="81ECFF"/>
                </a:solidFill>
                <a:latin typeface="JetBrains Mono"/>
                <a:ea typeface="JetBrains Mono"/>
                <a:cs typeface="JetBrains Mono"/>
              </a:rPr>
              <a:t>LET'S BUILD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514600"/>
            <a:ext cx="9326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你的產業，也能這樣用 AI 加速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566160"/>
            <a:ext cx="1280160" cy="38100"/>
          </a:xfrm>
          <a:prstGeom prst="rect">
            <a:avLst/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794760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6B4B8"/>
                </a:solidFill>
                <a:latin typeface="Noto Sans TC"/>
                <a:ea typeface="Noto Sans TC"/>
                <a:cs typeface="Noto Sans TC"/>
              </a:rPr>
              <a:t>不論是競品分析、市場調研，還是重複性的資料彙整，都能設計成一條 AI 協作工作流，把數週的工作壓縮到數天。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89204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8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910328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41418"/>
                </a:solidFill>
                <a:latin typeface="Noto Sans TC"/>
                <a:ea typeface="Noto Sans TC"/>
                <a:cs typeface="Noto Sans TC"/>
              </a:rPr>
              <a:t>立即開始對話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910328"/>
            <a:ext cx="5943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6B4B8"/>
                </a:solidFill>
                <a:latin typeface="JetBrains Mono"/>
                <a:ea typeface="JetBrains Mono"/>
                <a:cs typeface="JetBrains Mono"/>
              </a:rPr>
              <a:t>forms.gle/aTzTSBdJBxVNsnoG9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